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64592" cy="1645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5661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969E"/>
                </a:solidFill>
              </a:defRPr>
            </a:pPr>
            <a:r>
              <a:t>ETHONLINE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5F5"/>
                </a:solidFill>
              </a:defRPr>
            </a:pPr>
            <a:r>
              <a:t>AgentMarket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91969E"/>
                </a:solidFill>
              </a:defRPr>
            </a:pPr>
            <a:r>
              <a:t>Autonomous AI service marketplace with Hedera x402 payments and The Graph agent discovery.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5F5"/>
                </a:solidFill>
              </a:defRPr>
            </a:pPr>
            <a:r>
              <a:t>DISCOVER  →  DECIDE  →  PAY  →  EXECUTE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8006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91969E"/>
                </a:solidFill>
              </a:defRPr>
            </a:pPr>
            <a:r>
              <a:t>Live: 4gentmarket.vercel.app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64592" cy="1645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5661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969E"/>
                </a:solidFill>
              </a:defRPr>
            </a:pPr>
            <a:r>
              <a:t>01 ·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5F5"/>
                </a:solidFill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91969E"/>
                </a:solidFill>
              </a:defRPr>
            </a:pPr>
            <a:r>
              <a:t>Agents can reason, but accessing paid capabilities still often depends on API keys, subscriptions, and manual payment.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971800"/>
            <a:ext cx="3383280" cy="2011680"/>
          </a:xfrm>
          <a:prstGeom prst="roundRect">
            <a:avLst/>
          </a:prstGeom>
          <a:solidFill>
            <a:srgbClr val="0F1012"/>
          </a:solidFill>
          <a:ln>
            <a:solidFill>
              <a:srgbClr val="2D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17296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API 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685032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69E"/>
                </a:solidFill>
              </a:defRPr>
            </a:pPr>
            <a:r>
              <a:t>Credentials must be provisioned and managed for each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2971800"/>
            <a:ext cx="3383280" cy="2011680"/>
          </a:xfrm>
          <a:prstGeom prst="roundRect">
            <a:avLst/>
          </a:prstGeom>
          <a:solidFill>
            <a:srgbClr val="0F1012"/>
          </a:solidFill>
          <a:ln>
            <a:solidFill>
              <a:srgbClr val="2D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317296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Subscriptions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3685032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69E"/>
                </a:solidFill>
              </a:defRPr>
            </a:pPr>
            <a:r>
              <a:t>Access is commonly tied to accounts, plans, and seats.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2971800"/>
            <a:ext cx="3383280" cy="2011680"/>
          </a:xfrm>
          <a:prstGeom prst="roundRect">
            <a:avLst/>
          </a:prstGeom>
          <a:solidFill>
            <a:srgbClr val="0F1012"/>
          </a:solidFill>
          <a:ln>
            <a:solidFill>
              <a:srgbClr val="2D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317296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Manual payment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3685032"/>
            <a:ext cx="29260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69E"/>
                </a:solidFill>
              </a:defRPr>
            </a:pPr>
            <a:r>
              <a:t>Agents are not naturally equipped to pay for individual requests.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64592" cy="1645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5661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969E"/>
                </a:solidFill>
              </a:defRPr>
            </a:pPr>
            <a:r>
              <a:t>02 ·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5F5"/>
                </a:solidFill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91969E"/>
                </a:solidFill>
              </a:defRPr>
            </a:pPr>
            <a:r>
              <a:t>AgentMarket turns a natural-language goal into an autonomous service transaction.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926080"/>
            <a:ext cx="2057400" cy="2011680"/>
          </a:xfrm>
          <a:prstGeom prst="roundRect">
            <a:avLst/>
          </a:prstGeom>
          <a:solidFill>
            <a:srgbClr val="0F1012"/>
          </a:solidFill>
          <a:ln>
            <a:solidFill>
              <a:srgbClr val="2D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127248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39312"/>
            <a:ext cx="1600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69E"/>
                </a:solidFill>
              </a:defRPr>
            </a:pPr>
            <a:r>
              <a:t>Natural-language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C3CA"/>
                </a:solidFill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926080"/>
            <a:ext cx="2057400" cy="2011680"/>
          </a:xfrm>
          <a:prstGeom prst="roundRect">
            <a:avLst/>
          </a:prstGeom>
          <a:solidFill>
            <a:srgbClr val="0F1012"/>
          </a:solidFill>
          <a:ln>
            <a:solidFill>
              <a:srgbClr val="2D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3127248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639312"/>
            <a:ext cx="1600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69E"/>
                </a:solidFill>
              </a:defRPr>
            </a:pPr>
            <a:r>
              <a:t>Find matching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526280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C3CA"/>
                </a:solidFill>
              </a:defRPr>
            </a:pPr>
            <a: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2926080"/>
            <a:ext cx="2057400" cy="2011680"/>
          </a:xfrm>
          <a:prstGeom prst="roundRect">
            <a:avLst/>
          </a:prstGeom>
          <a:solidFill>
            <a:srgbClr val="0F1012"/>
          </a:solidFill>
          <a:ln>
            <a:solidFill>
              <a:srgbClr val="2D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3127248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639312"/>
            <a:ext cx="1600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69E"/>
                </a:solidFill>
              </a:defRPr>
            </a:pPr>
            <a:r>
              <a:t>Rank and select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4526280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C3CA"/>
                </a:solidFill>
              </a:defRPr>
            </a:pPr>
            <a: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2926080"/>
            <a:ext cx="2057400" cy="2011680"/>
          </a:xfrm>
          <a:prstGeom prst="roundRect">
            <a:avLst/>
          </a:prstGeom>
          <a:solidFill>
            <a:srgbClr val="0F1012"/>
          </a:solidFill>
          <a:ln>
            <a:solidFill>
              <a:srgbClr val="2D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3127248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Pay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639312"/>
            <a:ext cx="1600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69E"/>
                </a:solidFill>
              </a:defRPr>
            </a:pPr>
            <a:r>
              <a:t>x402 + HBAR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526280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C3CA"/>
                </a:solidFill>
              </a:defRPr>
            </a:pPr>
            <a:r>
              <a:t>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38360" y="2926080"/>
            <a:ext cx="2057400" cy="2011680"/>
          </a:xfrm>
          <a:prstGeom prst="roundRect">
            <a:avLst/>
          </a:prstGeom>
          <a:solidFill>
            <a:srgbClr val="0F1012"/>
          </a:solidFill>
          <a:ln>
            <a:solidFill>
              <a:srgbClr val="2D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3127248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639312"/>
            <a:ext cx="16002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69E"/>
                </a:solidFill>
              </a:defRPr>
            </a:pPr>
            <a:r>
              <a:t>Execute and return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4526280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BEC3CA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64592" cy="1645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5661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969E"/>
                </a:solidFill>
              </a:defRPr>
            </a:pPr>
            <a:r>
              <a:t>03 · HEDERA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5F5"/>
                </a:solidFill>
              </a:defRPr>
            </a:pPr>
            <a:r>
              <a:t>Hedera x402 payment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91969E"/>
                </a:solidFill>
              </a:defRPr>
            </a:pPr>
            <a:r>
              <a:t>The core hackathon proof: a live paid request settles on Hedera Testnet through Blocky402.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743200"/>
            <a:ext cx="2331720" cy="2148840"/>
          </a:xfrm>
          <a:prstGeom prst="roundRect">
            <a:avLst/>
          </a:prstGeom>
          <a:solidFill>
            <a:srgbClr val="0F1012"/>
          </a:solidFill>
          <a:ln>
            <a:solidFill>
              <a:srgbClr val="2D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944368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456432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69E"/>
                </a:solidFill>
              </a:defRPr>
            </a:pPr>
            <a:r>
              <a:t>Requests a protected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743200"/>
            <a:ext cx="2331720" cy="2148840"/>
          </a:xfrm>
          <a:prstGeom prst="roundRect">
            <a:avLst/>
          </a:prstGeom>
          <a:solidFill>
            <a:srgbClr val="0F1012"/>
          </a:solidFill>
          <a:ln>
            <a:solidFill>
              <a:srgbClr val="2D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944368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x402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56432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69E"/>
                </a:solidFill>
              </a:defRPr>
            </a:pPr>
            <a:r>
              <a:t>Service returns payment requirement.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6752" y="2743200"/>
            <a:ext cx="2331720" cy="2148840"/>
          </a:xfrm>
          <a:prstGeom prst="roundRect">
            <a:avLst/>
          </a:prstGeom>
          <a:solidFill>
            <a:srgbClr val="0F1012"/>
          </a:solidFill>
          <a:ln>
            <a:solidFill>
              <a:srgbClr val="2D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2944368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Blocky402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3456432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69E"/>
                </a:solidFill>
              </a:defRPr>
            </a:pPr>
            <a:r>
              <a:t>Verifies and facilitates settlement.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95944" y="2743200"/>
            <a:ext cx="2331720" cy="2148840"/>
          </a:xfrm>
          <a:prstGeom prst="roundRect">
            <a:avLst/>
          </a:prstGeom>
          <a:solidFill>
            <a:srgbClr val="0F1012"/>
          </a:solidFill>
          <a:ln>
            <a:solidFill>
              <a:srgbClr val="2D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24544" y="2944368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Hedera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544" y="3456432"/>
            <a:ext cx="187451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69E"/>
                </a:solidFill>
              </a:defRPr>
            </a:pPr>
            <a:r>
              <a:t>0.002 HBAR settles to provider.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492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BEC3CA"/>
                </a:solidFill>
              </a:defRPr>
            </a:pPr>
            <a:r>
              <a:t>Payer: 0.0.9822603   •   Provider: 0.0.9897003   •   Network: Hedera Testnet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64592" cy="1645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5661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969E"/>
                </a:solidFill>
              </a:defRPr>
            </a:pPr>
            <a:r>
              <a:t>04 ·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5F5"/>
                </a:solidFill>
              </a:defRPr>
            </a:pPr>
            <a:r>
              <a:t>The Graph + Agent0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91969E"/>
                </a:solidFill>
              </a:defRPr>
            </a:pPr>
            <a:r>
              <a:t>AgentScout uses live Graph data to discover and rank ERC-8004 agents by goal, capability, MCP and x402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743200"/>
            <a:ext cx="3246120" cy="2194560"/>
          </a:xfrm>
          <a:prstGeom prst="roundRect">
            <a:avLst/>
          </a:prstGeom>
          <a:solidFill>
            <a:srgbClr val="0F1012"/>
          </a:solidFill>
          <a:ln>
            <a:solidFill>
              <a:srgbClr val="2D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944368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Natural-language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456432"/>
            <a:ext cx="2788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69E"/>
                </a:solidFill>
              </a:defRPr>
            </a:pPr>
            <a:r>
              <a:t>“Find an AI agent for generating ZK proofs that supports x402.”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743200"/>
            <a:ext cx="3246120" cy="2194560"/>
          </a:xfrm>
          <a:prstGeom prst="roundRect">
            <a:avLst/>
          </a:prstGeom>
          <a:solidFill>
            <a:srgbClr val="0F1012"/>
          </a:solidFill>
          <a:ln>
            <a:solidFill>
              <a:srgbClr val="2D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944368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Live Graph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456432"/>
            <a:ext cx="2788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69E"/>
                </a:solidFill>
              </a:defRPr>
            </a:pPr>
            <a:r>
              <a:t>Agent0 registrations, capabilities, feedback and validation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5552" y="2743200"/>
            <a:ext cx="3246120" cy="2194560"/>
          </a:xfrm>
          <a:prstGeom prst="roundRect">
            <a:avLst/>
          </a:prstGeom>
          <a:solidFill>
            <a:srgbClr val="0F1012"/>
          </a:solidFill>
          <a:ln>
            <a:solidFill>
              <a:srgbClr val="2D30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74152" y="2944368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5F5"/>
                </a:solidFill>
              </a:defRPr>
            </a:pPr>
            <a:r>
              <a:t>Agent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3456432"/>
            <a:ext cx="27889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69E"/>
                </a:solidFill>
              </a:defRPr>
            </a:pPr>
            <a:r>
              <a:t>Goal matching + MCP/x402 signals + reputation signals.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64592" cy="1645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5661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969E"/>
                </a:solidFill>
              </a:defRPr>
            </a:pPr>
            <a:r>
              <a:t>05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5F5"/>
                </a:solidFill>
              </a:defRPr>
            </a:pPr>
            <a: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91969E"/>
                </a:solidFill>
              </a:defRPr>
            </a:pPr>
            <a:r>
              <a:t>We will now demonstrate the complete flow on the deployed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105156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t>1. Open /agent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t>2. Give the agent an image-generation goal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t>3. Watch service discovery and selection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t>4. The agent pays through x402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t>5. Show the Hedera settlement transaction</a:t>
            </a:r>
          </a:p>
          <a:p>
            <a:pPr>
              <a:spcAft>
                <a:spcPts val="1000"/>
              </a:spcAft>
              <a:defRPr sz="1800">
                <a:solidFill>
                  <a:srgbClr val="F5F5F5"/>
                </a:solidFill>
              </a:defRPr>
            </a:pPr>
            <a:r>
              <a:t>6. Run AgentScout using The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164592" cy="1645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56616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1969E"/>
                </a:solidFill>
              </a:defRPr>
            </a:pPr>
            <a:r>
              <a:t>06 ·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5F5"/>
                </a:solidFill>
              </a:defRPr>
            </a:pPr>
            <a: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91969E"/>
                </a:solidFill>
              </a:defRPr>
            </a:pPr>
            <a:r>
              <a:t>AgentMarket makes services consumable by agents at the moment they are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8346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5F5"/>
                </a:solidFill>
              </a:defRPr>
            </a:pPr>
            <a:r>
              <a:t>Agents should discover capabilities, pay for them, and receive results — without humans managing every API key or payment.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800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91969E"/>
                </a:solidFill>
              </a:defRPr>
            </a:pPr>
            <a:r>
              <a:t>4gentmarket.vercel.app  •  github.com/md0011/ai-api-marketplace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